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1836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C95C-421C-3DD6-730F-2F8710C31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90636-D72A-18CD-B5D4-CEEC88069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70BD0-8AB0-88A3-F8EC-32BE9E42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20803-2A74-AC19-4B5E-BDAC7E9F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2E9B8-6BE7-05C0-BA72-91AC2B93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6E77-34A7-4614-F204-26435296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EC88-294F-F07D-975F-31E861C5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A55C6-BD30-272A-48A3-28FA2853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712EE-9DE8-5A90-05AA-0BC20854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94F4B-5219-B51B-3D41-23A3793D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3C02-668E-562B-E7FA-5B822103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10EAF-6B79-A545-CD6B-A6FCFE3A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3A6-BA24-B877-0D2A-57B78E89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B8F8D-237D-2CBA-CD52-FF171C1DA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31582-0E58-FF9E-D550-5A4040FB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9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AFB7-372C-A06E-2187-DC5982EA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29363-79ED-E311-2DE1-019428D2E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775CF-C829-CB4B-309B-28C0165D0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4C18F-8C2E-6146-6707-7493365C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88B1E-BF41-C796-49DB-E53C3AB9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BDDA3-CFD0-A97E-EDDE-9E1B3BA2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5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1364-BD5B-B24D-7081-3A5CD38CC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4B5D7-864B-AB56-4013-87A967DAE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AF905-EA59-A704-5EC9-ABB6D84F4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F0D0A-EE77-23DC-FDA9-41C25E4A1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9634E-42E7-B772-84F2-C9E7BAE4C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74813A-87D0-7B67-16E7-CADE13CA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257FF-8E35-155C-F961-6E1AF7E7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DF9FD-42C2-0641-3ACF-AE459078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0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9868B-FE4D-FEC1-BCD4-3EF50C5F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0DA29-6C39-1EBB-69C5-593677CD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79434-0CF3-3FB6-7CF6-2C2BEEA6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2194D-CAF8-7081-899D-D0CB502E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6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C867B-3CB3-10C1-A410-FFB2E53C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C5BB6-42D5-20CB-DA02-1BDC2177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2F589-BF73-77E5-3534-53CC0A45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9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EB8F-4A23-B488-F9A4-78DA2F8E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0485-0200-1270-D131-5AE0E58AF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B1454-9E31-6376-2A5B-6E1AAF1D5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985C1-84F2-9234-25E5-CF906A19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EB9FC-8FD5-B583-178D-F76DC387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B881B-E024-42A6-BE64-7788D23D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6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4CC4-D35A-07A4-2AFE-C54415C1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2B94B-4B4C-D2D6-363A-959866C19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9200F-E1D3-D37A-32C5-EC8F16347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E0FFD-3773-BFE9-9190-67E587D5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4082E-9DC6-5C99-DBA4-68C25A499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A9CA3-06BA-0CB0-E9A1-D1C26F15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3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45F2-CA43-AE95-06EA-1B7D29E7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D302A-8F65-FE72-47A2-3987B27FE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F0745-B570-DB70-E658-2C397C08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BE71C-5597-8575-A097-EBAFE201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D0AFA-C11B-BE0B-44F9-C4EBF777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CAE6A-17ED-92FA-0D59-EC7F42EBE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40AB6-212F-7CD9-EE95-063849DA7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1A792-CBCB-2980-F357-6C364C09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C61F8-CA75-1026-7995-8DE059DD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95A30-DB84-CCCE-8BA5-FDC389255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1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2744C-7798-3A6F-D5F8-8C4E629C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E77CD-703A-1A4C-6A31-87E308EDE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17360-D413-1795-F096-1747BE275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025C4-2AE3-4C36-874D-346555C7F817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429F-0A1D-D133-2F22-6DB59CF88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9126C-AF46-E3D2-4FF3-8E132F226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9C6DF-F861-4CAC-980A-89C4339D1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5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key.com/en/products/detail/omnetics/A99100-025/11697551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1D93-6F05-569B-5883-3D07FABB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Dual </a:t>
            </a:r>
            <a:r>
              <a:rPr lang="en-US" dirty="0" err="1"/>
              <a:t>Ecal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59DDA-1B12-456B-4F2B-1901A6CB2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Lafe Spietz</a:t>
            </a:r>
          </a:p>
          <a:p>
            <a:r>
              <a:rPr lang="en-US" dirty="0"/>
              <a:t>NIST</a:t>
            </a:r>
          </a:p>
          <a:p>
            <a:r>
              <a:rPr lang="en-US" dirty="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21310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97B6-6384-8A6E-9854-B60C4156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Improvements/Features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D1B53-0170-3AA3-3AA7-F8AE0084B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024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Switch from 4 layer to 2 layer RF board for rapid prototyping</a:t>
            </a:r>
          </a:p>
          <a:p>
            <a:r>
              <a:rPr lang="en-US" dirty="0"/>
              <a:t>One micro D for whole system with two switches</a:t>
            </a:r>
          </a:p>
          <a:p>
            <a:r>
              <a:rPr lang="en-US" dirty="0"/>
              <a:t>Single compact switch for both sides</a:t>
            </a:r>
          </a:p>
          <a:p>
            <a:r>
              <a:rPr lang="en-US" dirty="0"/>
              <a:t>Two paths for quantum devices, one for thru</a:t>
            </a:r>
          </a:p>
          <a:p>
            <a:r>
              <a:rPr lang="en-US" dirty="0"/>
              <a:t>Built in SOLT</a:t>
            </a:r>
          </a:p>
          <a:p>
            <a:r>
              <a:rPr lang="en-US" dirty="0"/>
              <a:t>Repeat offset short calibration to get </a:t>
            </a:r>
            <a:r>
              <a:rPr lang="en-US" dirty="0" err="1"/>
              <a:t>cal</a:t>
            </a:r>
            <a:r>
              <a:rPr lang="en-US" dirty="0"/>
              <a:t> plane at SMA’s</a:t>
            </a:r>
          </a:p>
          <a:p>
            <a:r>
              <a:rPr lang="en-US" dirty="0"/>
              <a:t>Inner/outer symmetry</a:t>
            </a:r>
          </a:p>
          <a:p>
            <a:r>
              <a:rPr lang="en-US" dirty="0"/>
              <a:t>Matching network </a:t>
            </a:r>
          </a:p>
          <a:p>
            <a:r>
              <a:rPr lang="en-US" dirty="0"/>
              <a:t>Easily fits in narrow bore fridge with magnetic shield</a:t>
            </a:r>
          </a:p>
          <a:p>
            <a:r>
              <a:rPr lang="en-US" dirty="0"/>
              <a:t>Same board works with chips and wire bonds as with SMA edge launch</a:t>
            </a:r>
          </a:p>
          <a:p>
            <a:r>
              <a:rPr lang="en-US" dirty="0"/>
              <a:t>ALL SMA, no SMP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33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AI-generated content may be incorrect.">
            <a:extLst>
              <a:ext uri="{FF2B5EF4-FFF2-40B4-BE49-F238E27FC236}">
                <a16:creationId xmlns:a16="http://schemas.microsoft.com/office/drawing/2014/main" id="{B58FBB40-AD14-D1BC-2521-C980C0B8F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46" y="270344"/>
            <a:ext cx="6317311" cy="6317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BF69C-8DE6-4898-661A-14570DDE431C}"/>
              </a:ext>
            </a:extLst>
          </p:cNvPr>
          <p:cNvSpPr txBox="1"/>
          <p:nvPr/>
        </p:nvSpPr>
        <p:spPr>
          <a:xfrm>
            <a:off x="7704814" y="2091193"/>
            <a:ext cx="2862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SOLT  + qubit power sensor</a:t>
            </a:r>
          </a:p>
          <a:p>
            <a:r>
              <a:rPr lang="en-US" dirty="0"/>
              <a:t>Vs. </a:t>
            </a:r>
          </a:p>
          <a:p>
            <a:r>
              <a:rPr lang="en-US" dirty="0"/>
              <a:t>DUT</a:t>
            </a:r>
          </a:p>
        </p:txBody>
      </p:sp>
    </p:spTree>
    <p:extLst>
      <p:ext uri="{BB962C8B-B14F-4D97-AF65-F5344CB8AC3E}">
        <p14:creationId xmlns:p14="http://schemas.microsoft.com/office/powerpoint/2010/main" val="85562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262A-C697-B00D-AD03-264DDD21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380" y="224682"/>
            <a:ext cx="10515600" cy="1325563"/>
          </a:xfrm>
        </p:spPr>
        <p:txBody>
          <a:bodyPr/>
          <a:lstStyle/>
          <a:p>
            <a:r>
              <a:rPr lang="en-US" dirty="0"/>
              <a:t>Single Pole 3 Throw E-CAL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42A74-E47A-8FFE-3550-068057ADD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80" y="2465177"/>
            <a:ext cx="6506483" cy="3820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F38595-9591-3B23-E5FA-79759335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042" y="1550245"/>
            <a:ext cx="4643280" cy="4671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2B3B2-980E-7832-22BB-5503141D2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520" y="1216550"/>
            <a:ext cx="5373302" cy="518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9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5FA4-E9FA-6EC2-85D7-48E8E1ED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Female 25 pin Micro D pigtail </a:t>
            </a:r>
          </a:p>
        </p:txBody>
      </p:sp>
      <p:pic>
        <p:nvPicPr>
          <p:cNvPr id="5" name="Picture 4" descr="A close-up of a watch&#10;&#10;AI-generated content may be incorrect.">
            <a:extLst>
              <a:ext uri="{FF2B5EF4-FFF2-40B4-BE49-F238E27FC236}">
                <a16:creationId xmlns:a16="http://schemas.microsoft.com/office/drawing/2014/main" id="{2C91ACC5-46F9-1148-2FC7-3727A3BC0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6" b="24985"/>
          <a:stretch/>
        </p:blipFill>
        <p:spPr>
          <a:xfrm>
            <a:off x="668572" y="1388441"/>
            <a:ext cx="5427428" cy="2793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9E2C9E-4AD5-4C8C-05F9-7921F2606A90}"/>
              </a:ext>
            </a:extLst>
          </p:cNvPr>
          <p:cNvSpPr txBox="1"/>
          <p:nvPr/>
        </p:nvSpPr>
        <p:spPr>
          <a:xfrm>
            <a:off x="1116495" y="5123301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https://www.digikey.com/en/products/detail/omnetics/A99100-025/11697551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2A0680-6387-82FE-FCA3-65F9C8E83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665" y="1984256"/>
            <a:ext cx="6551875" cy="266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07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F4C5-E1C2-C77A-8980-E5B09192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8104"/>
            <a:ext cx="10515600" cy="1325563"/>
          </a:xfrm>
        </p:spPr>
        <p:txBody>
          <a:bodyPr/>
          <a:lstStyle/>
          <a:p>
            <a:r>
              <a:rPr lang="en-US" dirty="0"/>
              <a:t>Full package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BFFAC-83F4-4F1C-DBD2-E7D2D1127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15" t="12604" r="17996" b="15572"/>
          <a:stretch/>
        </p:blipFill>
        <p:spPr>
          <a:xfrm>
            <a:off x="4154987" y="1530763"/>
            <a:ext cx="4167196" cy="45163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563B44-D877-6EB6-1B3C-7DCDA3970BE8}"/>
              </a:ext>
            </a:extLst>
          </p:cNvPr>
          <p:cNvCxnSpPr/>
          <p:nvPr/>
        </p:nvCxnSpPr>
        <p:spPr>
          <a:xfrm>
            <a:off x="6130491" y="5073955"/>
            <a:ext cx="0" cy="1637969"/>
          </a:xfrm>
          <a:prstGeom prst="line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AAD44F-CF7A-531D-F300-D7ECD851D2AD}"/>
              </a:ext>
            </a:extLst>
          </p:cNvPr>
          <p:cNvCxnSpPr>
            <a:cxnSpLocks/>
          </p:cNvCxnSpPr>
          <p:nvPr/>
        </p:nvCxnSpPr>
        <p:spPr>
          <a:xfrm>
            <a:off x="7337122" y="4678029"/>
            <a:ext cx="0" cy="1471484"/>
          </a:xfrm>
          <a:prstGeom prst="line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221516-025E-1D8A-25BD-2706FE62E6EE}"/>
              </a:ext>
            </a:extLst>
          </p:cNvPr>
          <p:cNvCxnSpPr/>
          <p:nvPr/>
        </p:nvCxnSpPr>
        <p:spPr>
          <a:xfrm>
            <a:off x="5084116" y="4744017"/>
            <a:ext cx="0" cy="1637969"/>
          </a:xfrm>
          <a:prstGeom prst="line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7BEBE1-8B4B-4CF9-8575-78EBD26AA137}"/>
              </a:ext>
            </a:extLst>
          </p:cNvPr>
          <p:cNvCxnSpPr>
            <a:cxnSpLocks/>
          </p:cNvCxnSpPr>
          <p:nvPr/>
        </p:nvCxnSpPr>
        <p:spPr>
          <a:xfrm>
            <a:off x="5941955" y="4678029"/>
            <a:ext cx="0" cy="914401"/>
          </a:xfrm>
          <a:prstGeom prst="line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568E4A-75A6-A6F8-86AB-184A44760D47}"/>
              </a:ext>
            </a:extLst>
          </p:cNvPr>
          <p:cNvCxnSpPr/>
          <p:nvPr/>
        </p:nvCxnSpPr>
        <p:spPr>
          <a:xfrm>
            <a:off x="5602591" y="407687"/>
            <a:ext cx="0" cy="1637969"/>
          </a:xfrm>
          <a:prstGeom prst="line">
            <a:avLst/>
          </a:prstGeom>
          <a:ln w="635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D30D82-C4BB-42FE-981A-7E9B97955FC0}"/>
              </a:ext>
            </a:extLst>
          </p:cNvPr>
          <p:cNvCxnSpPr/>
          <p:nvPr/>
        </p:nvCxnSpPr>
        <p:spPr>
          <a:xfrm>
            <a:off x="6733807" y="48997"/>
            <a:ext cx="0" cy="1637969"/>
          </a:xfrm>
          <a:prstGeom prst="line">
            <a:avLst/>
          </a:prstGeom>
          <a:ln w="635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 descr="Shape&#10;&#10;AI-generated content may be incorrect.">
            <a:extLst>
              <a:ext uri="{FF2B5EF4-FFF2-40B4-BE49-F238E27FC236}">
                <a16:creationId xmlns:a16="http://schemas.microsoft.com/office/drawing/2014/main" id="{4F6015E4-F55A-D2D9-5D00-DD03C1399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416" y="945256"/>
            <a:ext cx="2109506" cy="2109506"/>
          </a:xfrm>
          <a:prstGeom prst="rect">
            <a:avLst/>
          </a:prstGeom>
        </p:spPr>
      </p:pic>
      <p:pic>
        <p:nvPicPr>
          <p:cNvPr id="18" name="Picture 17" descr="Shape&#10;&#10;AI-generated content may be incorrect.">
            <a:extLst>
              <a:ext uri="{FF2B5EF4-FFF2-40B4-BE49-F238E27FC236}">
                <a16:creationId xmlns:a16="http://schemas.microsoft.com/office/drawing/2014/main" id="{9E9FC566-63FD-7004-E3BF-8B8420D15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966988" y="3618131"/>
            <a:ext cx="2109506" cy="210950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9A6F82-2500-36E7-6E91-D85E084FCA66}"/>
              </a:ext>
            </a:extLst>
          </p:cNvPr>
          <p:cNvCxnSpPr>
            <a:cxnSpLocks/>
          </p:cNvCxnSpPr>
          <p:nvPr/>
        </p:nvCxnSpPr>
        <p:spPr>
          <a:xfrm flipH="1">
            <a:off x="10031166" y="66112"/>
            <a:ext cx="3" cy="812680"/>
          </a:xfrm>
          <a:prstGeom prst="line">
            <a:avLst/>
          </a:prstGeom>
          <a:ln w="635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96DC20-94E1-B6BF-65D4-F1801E7B1D84}"/>
              </a:ext>
            </a:extLst>
          </p:cNvPr>
          <p:cNvCxnSpPr>
            <a:cxnSpLocks/>
          </p:cNvCxnSpPr>
          <p:nvPr/>
        </p:nvCxnSpPr>
        <p:spPr>
          <a:xfrm>
            <a:off x="10021739" y="5803709"/>
            <a:ext cx="0" cy="944184"/>
          </a:xfrm>
          <a:prstGeom prst="line">
            <a:avLst/>
          </a:prstGeom>
          <a:ln w="635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2B9EFA-CB2F-3FA1-3876-7BE1B4FC6B18}"/>
              </a:ext>
            </a:extLst>
          </p:cNvPr>
          <p:cNvCxnSpPr>
            <a:cxnSpLocks/>
          </p:cNvCxnSpPr>
          <p:nvPr/>
        </p:nvCxnSpPr>
        <p:spPr>
          <a:xfrm>
            <a:off x="9390706" y="3054762"/>
            <a:ext cx="0" cy="563369"/>
          </a:xfrm>
          <a:prstGeom prst="line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A70164-A552-5A2B-2617-52D22B5B2CF7}"/>
              </a:ext>
            </a:extLst>
          </p:cNvPr>
          <p:cNvCxnSpPr>
            <a:cxnSpLocks/>
          </p:cNvCxnSpPr>
          <p:nvPr/>
        </p:nvCxnSpPr>
        <p:spPr>
          <a:xfrm>
            <a:off x="10644472" y="3045335"/>
            <a:ext cx="0" cy="563369"/>
          </a:xfrm>
          <a:prstGeom prst="line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960A6B9-B12F-E3FE-76E0-05FA9589EF39}"/>
              </a:ext>
            </a:extLst>
          </p:cNvPr>
          <p:cNvSpPr/>
          <p:nvPr/>
        </p:nvSpPr>
        <p:spPr>
          <a:xfrm rot="16200000">
            <a:off x="9583956" y="3209184"/>
            <a:ext cx="886120" cy="27337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THRU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F388170-860C-763B-165A-EE9587D2A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79" y="2122079"/>
            <a:ext cx="2894271" cy="30131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BFDA188-5779-C355-CA21-2B5C4690139A}"/>
              </a:ext>
            </a:extLst>
          </p:cNvPr>
          <p:cNvSpPr txBox="1"/>
          <p:nvPr/>
        </p:nvSpPr>
        <p:spPr>
          <a:xfrm>
            <a:off x="1115485" y="5044439"/>
            <a:ext cx="214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Fits in 2.5” I.D tube</a:t>
            </a:r>
          </a:p>
        </p:txBody>
      </p:sp>
    </p:spTree>
    <p:extLst>
      <p:ext uri="{BB962C8B-B14F-4D97-AF65-F5344CB8AC3E}">
        <p14:creationId xmlns:p14="http://schemas.microsoft.com/office/powerpoint/2010/main" val="293525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714E-DEE5-CE09-E493-0DBC7554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Bracket for 2 chip enclosures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62B05-A312-2F4F-1BA8-318C092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29" y="1422399"/>
            <a:ext cx="2775816" cy="504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52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BE09-8EE4-A5AD-261E-1E66D057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 based tester with integrated enclosure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C15A7E-3DC0-03EB-194E-D31754C41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07" y="1433234"/>
            <a:ext cx="5096586" cy="3991532"/>
          </a:xfrm>
          <a:prstGeom prst="rect">
            <a:avLst/>
          </a:prstGeom>
        </p:spPr>
      </p:pic>
      <p:sp>
        <p:nvSpPr>
          <p:cNvPr id="7" name="Arrow: Bent 6">
            <a:extLst>
              <a:ext uri="{FF2B5EF4-FFF2-40B4-BE49-F238E27FC236}">
                <a16:creationId xmlns:a16="http://schemas.microsoft.com/office/drawing/2014/main" id="{58B6C80D-E043-8521-6D43-35435DA6BDA4}"/>
              </a:ext>
            </a:extLst>
          </p:cNvPr>
          <p:cNvSpPr/>
          <p:nvPr/>
        </p:nvSpPr>
        <p:spPr>
          <a:xfrm rot="16200000">
            <a:off x="5186763" y="4758133"/>
            <a:ext cx="1371600" cy="189468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9486D-66B0-90F5-7287-914DDB788B6F}"/>
              </a:ext>
            </a:extLst>
          </p:cNvPr>
          <p:cNvSpPr txBox="1"/>
          <p:nvPr/>
        </p:nvSpPr>
        <p:spPr>
          <a:xfrm>
            <a:off x="6819905" y="5910044"/>
            <a:ext cx="3090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CAP PCB WITH CHIP CUTOUTS, THRU HOLE VIAS, NO SMA</a:t>
            </a:r>
          </a:p>
        </p:txBody>
      </p:sp>
    </p:spTree>
    <p:extLst>
      <p:ext uri="{BB962C8B-B14F-4D97-AF65-F5344CB8AC3E}">
        <p14:creationId xmlns:p14="http://schemas.microsoft.com/office/powerpoint/2010/main" val="219328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164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Dual Ecal</vt:lpstr>
      <vt:lpstr>Improvements/Features </vt:lpstr>
      <vt:lpstr>PowerPoint Presentation</vt:lpstr>
      <vt:lpstr>Single Pole 3 Throw E-CAL</vt:lpstr>
      <vt:lpstr>Female 25 pin Micro D pigtail </vt:lpstr>
      <vt:lpstr>Full package</vt:lpstr>
      <vt:lpstr>Bracket for 2 chip enclosures</vt:lpstr>
      <vt:lpstr>Chip based tester with integrated enclosure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22</cp:revision>
  <dcterms:created xsi:type="dcterms:W3CDTF">2025-11-28T17:40:00Z</dcterms:created>
  <dcterms:modified xsi:type="dcterms:W3CDTF">2025-11-28T21:02:47Z</dcterms:modified>
</cp:coreProperties>
</file>